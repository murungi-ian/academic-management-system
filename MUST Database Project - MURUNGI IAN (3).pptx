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99FC4A-E38B-4DD1-A854-9A549D651E6F}">
  <a:tblStyle styleId="{6199FC4A-E38B-4DD1-A854-9A549D651E6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9512" y="4144267"/>
            <a:ext cx="4752975" cy="17009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012626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475482"/>
            <a:ext cx="11601450" cy="1634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Academic 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10991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Individual Project Submission — May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05262" y="4468117"/>
            <a:ext cx="418147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Presenter: </a:t>
            </a:r>
            <a:r>
              <a:rPr b="1" i="0" lang="en-US" sz="27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05262" y="5043338"/>
            <a:ext cx="41814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Registration ID: 2025/BCS/129/PS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595437" y="1581150"/>
            <a:ext cx="90011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143500" y="3295650"/>
            <a:ext cx="1905000" cy="952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3676650"/>
            <a:ext cx="8572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Digitizing academic operations at MUST through a robust relational database for efficiency and data integrity.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881312"/>
            <a:ext cx="52387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691062"/>
            <a:ext cx="5238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CORE DATABASE TABLES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381750" y="2473821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Efficiency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750046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Designed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3rd Normal Form (3NF)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eliminate data redundancy and manual overhead in record management.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3862387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Instant result and transcript processing.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4420492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19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15-20 staff hours saved weekly.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81750" y="4978598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Automated GPA / CGPA calculation logic.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004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4585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01669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9625" y="132129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32129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Administrators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Manage core system entities: Student admissions, Faculty recruitment, and Semester life-cycle configurations.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Lecturers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403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Input semester marks, monitor assigned course units, and track student performance metrics.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Secure self-service portal to view grades, enrollment status, and download academic transcripts.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576661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User Roles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571500"/>
            <a:ext cx="530066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Institutional Benefits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142875" cy="154305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24955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Accuracy &amp; Professionalism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771775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system provides MUST with error-free academic result tracking, significantly fostering a professional and modernized institutional reputation.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74591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Reduces reliance on paper processes, ensuring that student records are accurate, searchable, and always accessible to academic stakeholders.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19461"/>
            <a:ext cx="3492549" cy="377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8942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Database Security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Strict MySQL user permissions and password hashing implemented to prevent unauthorized access.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672537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Automated Backups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740324" y="375776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Daily scheduled MySQL dumps ensure data recovery in the event of system or hardware failure.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450836" y="348153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Constraints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518624" y="3757761"/>
            <a:ext cx="2711499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of CHECK constraints and ENUM types to prevent invalid data entry (e.g., grades or gender).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29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2576661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299" y="2576661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09625" y="96693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Risk Management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96693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19"/>
          <p:cNvGraphicFramePr/>
          <p:nvPr/>
        </p:nvGraphicFramePr>
        <p:xfrm>
          <a:off x="2190750" y="1605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{6199FC4A-E38B-4DD1-A854-9A549D651E6F}</a:tableStyleId>
              </a:tblPr>
              <a:tblGrid>
                <a:gridCol w="1809750"/>
                <a:gridCol w="1876425"/>
                <a:gridCol w="2057400"/>
                <a:gridCol w="2066925"/>
              </a:tblGrid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Entity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9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99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department_id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Academic Unit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dept_name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Degree Path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prog_name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student_id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Participant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reg_number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faculty_id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Teaching Staff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email_address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Curriculum Item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course_code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grade_id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Result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numerical_grade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9"/>
          <p:cNvSpPr/>
          <p:nvPr/>
        </p:nvSpPr>
        <p:spPr>
          <a:xfrm>
            <a:off x="2190750" y="3029098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000500" y="3029098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876925" y="3029098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934325" y="3029098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2190750" y="3701504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000500" y="3701504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76925" y="3701504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934325" y="3701504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190750" y="4373909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000500" y="4373909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876925" y="4373909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934325" y="4373909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190750" y="5046315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000500" y="5046315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876925" y="5046315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934325" y="5046315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190750" y="5718720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4000500" y="5718720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876925" y="5718720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934325" y="5718720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190750" y="6391126"/>
            <a:ext cx="18097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000500" y="6391126"/>
            <a:ext cx="1876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876925" y="6391126"/>
            <a:ext cx="2057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934325" y="6391126"/>
            <a:ext cx="20669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809625" y="452735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Logical Design: Core Entities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452735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6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title="ChatGPT Image May 5, 2026, 08_06_27 PM.png"/>
          <p:cNvPicPr preferRelativeResize="0"/>
          <p:nvPr/>
        </p:nvPicPr>
        <p:blipFill rotWithShape="1">
          <a:blip r:embed="rId4">
            <a:alphaModFix/>
          </a:blip>
          <a:srcRect b="0" l="3687" r="3678" t="0"/>
          <a:stretch/>
        </p:blipFill>
        <p:spPr>
          <a:xfrm>
            <a:off x="2877750" y="1302100"/>
            <a:ext cx="7543799" cy="518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2324100" y="6636097"/>
            <a:ext cx="7543800" cy="221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Relational Architecture: 1:N and M:N Junctions with Referential Integrity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40575" y="164373"/>
            <a:ext cx="11351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Enhanced Entity Relationship (EER) Diagram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16248"/>
            <a:ext cx="142800" cy="1543200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Configuration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129111"/>
            <a:ext cx="52387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MySQL 8.0+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All tables utilize AUTO_INCREMENT Primary Keys for record uniqueness and optimized indexing.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250977"/>
            <a:ext cx="5238750" cy="65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Referential Integrity is enforced using Foreign Key constraints with ON UPDATE CASCADE actions.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81750" y="2852886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Constraints &amp; Types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3129111"/>
            <a:ext cx="5238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UNIQUE: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Registration Numbers and Emails.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359196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ENUM: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Enforced values for Gender ('Male', 'Female') and Grade Letters (A-F).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81750" y="4374802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Validates that semester end_dates occur after start_dates.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09625" y="1700361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Physical Schema (MySQL)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1700361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59471"/>
            <a:ext cx="3492549" cy="409158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942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CRUD Validation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Verified successful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INSERT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operations across all 9 tables using realistic MUST university datasets and student enrollment profiles.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672537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Query Execution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740324" y="3597771"/>
            <a:ext cx="2711499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Successfully executed 6 complex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JOIN queries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validate reporting logic, GPA calculations, and student distribution reports.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450836" y="3321546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Integrity Testing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518624" y="3597771"/>
            <a:ext cx="2711499" cy="1599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Confirmed that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Foreign Key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constraints and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rules correctly reject invalid data entries (e.g., marks &gt; 100).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1000" y="2416671"/>
            <a:ext cx="533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416671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9499" y="241667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09625" y="806946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System Test Data Results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806946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09625" y="571500"/>
            <a:ext cx="530066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571500"/>
            <a:ext cx="142875" cy="771525"/>
          </a:xfrm>
          <a:prstGeom prst="rect">
            <a:avLst/>
          </a:prstGeom>
          <a:solidFill>
            <a:srgbClr val="FCB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571500" y="17240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Digital Evolution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2000250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2 will integrate a secure Laravel-based web interface for remote faculty grading and student profile management via browser.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3103066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Phase 3 plans include a mobile application for instant result notifications and a biometric attendance module for tracking.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1262" y="3834854"/>
            <a:ext cx="3695700" cy="1727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7962" y="3834854"/>
            <a:ext cx="3152775" cy="172774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95275" y="261193"/>
            <a:ext cx="11601450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1937593"/>
            <a:ext cx="11049000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3027164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Individual Project — </a:t>
            </a:r>
            <a:r>
              <a:rPr b="1" i="0" lang="en-US" sz="2400" u="none" cap="none" strike="noStrike">
                <a:solidFill>
                  <a:srgbClr val="FCB900"/>
                </a:solidFill>
                <a:latin typeface="Lato"/>
                <a:ea typeface="Lato"/>
                <a:cs typeface="Lato"/>
                <a:sym typeface="Lato"/>
              </a:rPr>
              <a:t>MURUNGI IAN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71500" y="613410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Mbarara University of Science and Technology | May 2026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4130129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2967037" y="4654004"/>
            <a:ext cx="27241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GitHub Repository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2967037" y="4973984"/>
            <a:ext cx="2724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https://github.com/MURUNGI-IAN/Academic-Management-System.git</a:t>
            </a:r>
            <a:endParaRPr/>
          </a:p>
        </p:txBody>
      </p:sp>
      <p:pic>
        <p:nvPicPr>
          <p:cNvPr descr="image.png" id="264" name="Google Shape;2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0037" y="4130129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7043737" y="4654004"/>
            <a:ext cx="2181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Project Demo Video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7043737" y="4973984"/>
            <a:ext cx="218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youtube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