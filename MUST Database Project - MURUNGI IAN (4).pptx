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6858000" cx="12192000"/>
  <p:notesSz cx="6858000" cy="9144000"/>
  <p:embeddedFontLst>
    <p:embeddedFont>
      <p:font typeface="Lato"/>
      <p:regular r:id="rId19"/>
      <p:bold r:id="rId20"/>
      <p:italic r:id="rId21"/>
      <p:boldItalic r:id="rId22"/>
    </p:embeddedFont>
    <p:embeddedFont>
      <p:font typeface="Poppins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06E23D9-0A25-4F2F-B865-54AAF02C646F}">
  <a:tblStyle styleId="{B06E23D9-0A25-4F2F-B865-54AAF02C646F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bold.fntdata"/><Relationship Id="rId22" Type="http://schemas.openxmlformats.org/officeDocument/2006/relationships/font" Target="fonts/Lato-boldItalic.fntdata"/><Relationship Id="rId21" Type="http://schemas.openxmlformats.org/officeDocument/2006/relationships/font" Target="fonts/Lato-italic.fntdata"/><Relationship Id="rId24" Type="http://schemas.openxmlformats.org/officeDocument/2006/relationships/font" Target="fonts/Poppins-bold.fntdata"/><Relationship Id="rId23" Type="http://schemas.openxmlformats.org/officeDocument/2006/relationships/font" Target="fonts/Poppins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Poppins-boldItalic.fntdata"/><Relationship Id="rId25" Type="http://schemas.openxmlformats.org/officeDocument/2006/relationships/font" Target="fonts/Poppins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Lato-regular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Relationship Id="rId4" Type="http://schemas.openxmlformats.org/officeDocument/2006/relationships/image" Target="../media/image8.png"/><Relationship Id="rId5" Type="http://schemas.openxmlformats.org/officeDocument/2006/relationships/image" Target="../media/image1.png"/><Relationship Id="rId6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2.png"/><Relationship Id="rId9" Type="http://schemas.openxmlformats.org/officeDocument/2006/relationships/image" Target="../media/image13.png"/><Relationship Id="rId5" Type="http://schemas.openxmlformats.org/officeDocument/2006/relationships/image" Target="../media/image7.png"/><Relationship Id="rId6" Type="http://schemas.openxmlformats.org/officeDocument/2006/relationships/image" Target="../media/image9.png"/><Relationship Id="rId7" Type="http://schemas.openxmlformats.org/officeDocument/2006/relationships/image" Target="../media/image6.png"/><Relationship Id="rId8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Relationship Id="rId4" Type="http://schemas.openxmlformats.org/officeDocument/2006/relationships/image" Target="../media/image2.png"/><Relationship Id="rId9" Type="http://schemas.openxmlformats.org/officeDocument/2006/relationships/image" Target="../media/image22.png"/><Relationship Id="rId5" Type="http://schemas.openxmlformats.org/officeDocument/2006/relationships/image" Target="../media/image7.png"/><Relationship Id="rId6" Type="http://schemas.openxmlformats.org/officeDocument/2006/relationships/image" Target="../media/image9.png"/><Relationship Id="rId7" Type="http://schemas.openxmlformats.org/officeDocument/2006/relationships/image" Target="../media/image12.png"/><Relationship Id="rId8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Relationship Id="rId4" Type="http://schemas.openxmlformats.org/officeDocument/2006/relationships/image" Target="../media/image2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Relationship Id="rId4" Type="http://schemas.openxmlformats.org/officeDocument/2006/relationships/image" Target="../media/image25.png"/><Relationship Id="rId9" Type="http://schemas.openxmlformats.org/officeDocument/2006/relationships/image" Target="../media/image16.png"/><Relationship Id="rId5" Type="http://schemas.openxmlformats.org/officeDocument/2006/relationships/image" Target="../media/image21.png"/><Relationship Id="rId6" Type="http://schemas.openxmlformats.org/officeDocument/2006/relationships/image" Target="../media/image15.png"/><Relationship Id="rId7" Type="http://schemas.openxmlformats.org/officeDocument/2006/relationships/image" Target="../media/image19.png"/><Relationship Id="rId8" Type="http://schemas.openxmlformats.org/officeDocument/2006/relationships/image" Target="../media/image2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Relationship Id="rId4" Type="http://schemas.openxmlformats.org/officeDocument/2006/relationships/image" Target="../media/image2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Relationship Id="rId4" Type="http://schemas.openxmlformats.org/officeDocument/2006/relationships/image" Target="../media/image17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19512" y="4144267"/>
            <a:ext cx="4752975" cy="1700956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571500" y="1012626"/>
            <a:ext cx="1104900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CB900"/>
                </a:solidFill>
                <a:latin typeface="Lato"/>
                <a:ea typeface="Lato"/>
                <a:cs typeface="Lato"/>
                <a:sym typeface="Lato"/>
              </a:rPr>
              <a:t>MBARARA UNIVERSITY OF SCIENCE AND TECHNOLOGY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95275" y="1475482"/>
            <a:ext cx="11601450" cy="16344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9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8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Academic Management System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571500" y="3109912"/>
            <a:ext cx="11049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May 2026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4005262" y="4468117"/>
            <a:ext cx="4181475" cy="479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Presenter: </a:t>
            </a:r>
            <a:r>
              <a:rPr b="1" i="0" lang="en-US" sz="2700" u="none" cap="none" strike="noStrike">
                <a:solidFill>
                  <a:srgbClr val="FCB900"/>
                </a:solidFill>
                <a:latin typeface="Lato"/>
                <a:ea typeface="Lato"/>
                <a:cs typeface="Lato"/>
                <a:sym typeface="Lato"/>
              </a:rPr>
              <a:t>MURUNGI IAN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4005262" y="5043338"/>
            <a:ext cx="4181475" cy="373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Registration ID: 2025/BCS/129/PS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5" name="Google Shape;9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1595437" y="1581150"/>
            <a:ext cx="9001125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Project Overview</a:t>
            </a:r>
            <a:endParaRPr/>
          </a:p>
        </p:txBody>
      </p:sp>
      <p:sp>
        <p:nvSpPr>
          <p:cNvPr id="97" name="Google Shape;97;p14"/>
          <p:cNvSpPr/>
          <p:nvPr/>
        </p:nvSpPr>
        <p:spPr>
          <a:xfrm>
            <a:off x="5143500" y="3295650"/>
            <a:ext cx="1905000" cy="95250"/>
          </a:xfrm>
          <a:prstGeom prst="rect">
            <a:avLst/>
          </a:prstGeom>
          <a:solidFill>
            <a:srgbClr val="FCB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1809750" y="3676650"/>
            <a:ext cx="85725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Digitizing academic operations at MUST through a robust relational database for efficiency and data integrity.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3" name="Google Shape;10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5"/>
          <p:cNvSpPr txBox="1"/>
          <p:nvPr/>
        </p:nvSpPr>
        <p:spPr>
          <a:xfrm>
            <a:off x="571500" y="2881312"/>
            <a:ext cx="5238750" cy="1809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0" u="none" cap="none" strike="noStrike">
                <a:solidFill>
                  <a:srgbClr val="FCB900"/>
                </a:solidFill>
                <a:latin typeface="Lato"/>
                <a:ea typeface="Lato"/>
                <a:cs typeface="Lato"/>
                <a:sym typeface="Lato"/>
              </a:rPr>
              <a:t>09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571500" y="4691062"/>
            <a:ext cx="52387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CORE DATABASE TABLES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6381750" y="2473821"/>
            <a:ext cx="550068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System Efficiency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6381750" y="2750046"/>
            <a:ext cx="5238750" cy="959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Designed using </a:t>
            </a:r>
            <a:r>
              <a:rPr b="1" i="0" lang="en-US" sz="18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3rd Normal Form (3NF)</a:t>
            </a:r>
            <a:r>
              <a:rPr b="0" i="0" lang="en-US" sz="18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to eliminate data redundancy and manual overhead in record management.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6381750" y="3862387"/>
            <a:ext cx="523875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90525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Instant result and transcript processing.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6381750" y="4420492"/>
            <a:ext cx="523875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1910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15-20 staff hours saved weekly.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6381750" y="4978598"/>
            <a:ext cx="523875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90525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Automated GPA / CGPA calculation logic.</a:t>
            </a:r>
            <a:endParaRPr/>
          </a:p>
        </p:txBody>
      </p:sp>
      <p:pic>
        <p:nvPicPr>
          <p:cNvPr descr="image.png" id="111" name="Google Shape;11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3900487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445859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1750" y="5016698"/>
            <a:ext cx="20002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809625" y="1321296"/>
            <a:ext cx="11351418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Executive Summary</a:t>
            </a:r>
            <a:endParaRPr/>
          </a:p>
        </p:txBody>
      </p:sp>
      <p:sp>
        <p:nvSpPr>
          <p:cNvPr id="115" name="Google Shape;115;p15"/>
          <p:cNvSpPr/>
          <p:nvPr/>
        </p:nvSpPr>
        <p:spPr>
          <a:xfrm>
            <a:off x="571500" y="1321296"/>
            <a:ext cx="142875" cy="771525"/>
          </a:xfrm>
          <a:prstGeom prst="rect">
            <a:avLst/>
          </a:prstGeom>
          <a:solidFill>
            <a:srgbClr val="FCB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0" name="Google Shape;12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119461"/>
            <a:ext cx="3492549" cy="377160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119461"/>
            <a:ext cx="3492549" cy="377160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119461"/>
            <a:ext cx="3492549" cy="3771602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6"/>
          <p:cNvSpPr txBox="1"/>
          <p:nvPr/>
        </p:nvSpPr>
        <p:spPr>
          <a:xfrm>
            <a:off x="894237" y="3481536"/>
            <a:ext cx="2847074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Administrators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962025" y="3757761"/>
            <a:ext cx="2711499" cy="15999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Manage core system entities: Student admissions, Faculty recruitment, and Semester life-cycle configurations.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4672537" y="3481536"/>
            <a:ext cx="2847074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Lecturers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4740324" y="3757761"/>
            <a:ext cx="2711499" cy="1279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Input semester marks, monitor assigned course units, and track student performance metrics.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8450836" y="3481536"/>
            <a:ext cx="2847074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Students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8518624" y="3757761"/>
            <a:ext cx="2711499" cy="1279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Secure self-service portal to view grades, enrollment status, and download academic transcripts.</a:t>
            </a:r>
            <a:endParaRPr/>
          </a:p>
        </p:txBody>
      </p:sp>
      <p:pic>
        <p:nvPicPr>
          <p:cNvPr descr="image.png" id="130" name="Google Shape;130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936700" y="2576661"/>
            <a:ext cx="7620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0" y="2576661"/>
            <a:ext cx="7620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07599" y="2576661"/>
            <a:ext cx="5334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>
            <a:off x="809625" y="966936"/>
            <a:ext cx="11351418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System User Roles</a:t>
            </a:r>
            <a:endParaRPr/>
          </a:p>
        </p:txBody>
      </p:sp>
      <p:sp>
        <p:nvSpPr>
          <p:cNvPr id="134" name="Google Shape;134;p16"/>
          <p:cNvSpPr/>
          <p:nvPr/>
        </p:nvSpPr>
        <p:spPr>
          <a:xfrm>
            <a:off x="571500" y="966936"/>
            <a:ext cx="142875" cy="771525"/>
          </a:xfrm>
          <a:prstGeom prst="rect">
            <a:avLst/>
          </a:prstGeom>
          <a:solidFill>
            <a:srgbClr val="FCB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9" name="Google Shape;13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/>
        </p:nvSpPr>
        <p:spPr>
          <a:xfrm>
            <a:off x="809625" y="571500"/>
            <a:ext cx="5300662" cy="1543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Institutional Benefits</a:t>
            </a:r>
            <a:endParaRPr/>
          </a:p>
        </p:txBody>
      </p:sp>
      <p:sp>
        <p:nvSpPr>
          <p:cNvPr id="141" name="Google Shape;141;p17"/>
          <p:cNvSpPr/>
          <p:nvPr/>
        </p:nvSpPr>
        <p:spPr>
          <a:xfrm>
            <a:off x="571500" y="571500"/>
            <a:ext cx="142875" cy="1543050"/>
          </a:xfrm>
          <a:prstGeom prst="rect">
            <a:avLst/>
          </a:prstGeom>
          <a:solidFill>
            <a:srgbClr val="FCB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42" name="Google Shape;142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0"/>
            <a:ext cx="58578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7"/>
          <p:cNvSpPr txBox="1"/>
          <p:nvPr/>
        </p:nvSpPr>
        <p:spPr>
          <a:xfrm>
            <a:off x="571500" y="2495550"/>
            <a:ext cx="555069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Accuracy &amp; Professionalism</a:t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571500" y="2771775"/>
            <a:ext cx="5286375" cy="959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The system provides MUST with error-free academic result tracking, significantly fostering a professional and modernized institutional reputation.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571500" y="3874591"/>
            <a:ext cx="5286375" cy="959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Reduces reliance on paper processes, ensuring that student records are accurate, searchable, and always accessible to academic stakeholders.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0" name="Google Shape;15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1" name="Google Shape;151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119461"/>
            <a:ext cx="3492549" cy="377160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2" name="Google Shape;152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119461"/>
            <a:ext cx="3492549" cy="377160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3" name="Google Shape;153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119461"/>
            <a:ext cx="3492549" cy="3771602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8"/>
          <p:cNvSpPr txBox="1"/>
          <p:nvPr/>
        </p:nvSpPr>
        <p:spPr>
          <a:xfrm>
            <a:off x="894237" y="3481536"/>
            <a:ext cx="2847074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Database Security</a:t>
            </a:r>
            <a:endParaRPr/>
          </a:p>
        </p:txBody>
      </p:sp>
      <p:sp>
        <p:nvSpPr>
          <p:cNvPr id="155" name="Google Shape;155;p18"/>
          <p:cNvSpPr txBox="1"/>
          <p:nvPr/>
        </p:nvSpPr>
        <p:spPr>
          <a:xfrm>
            <a:off x="962025" y="3757761"/>
            <a:ext cx="2711499" cy="15999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Strict MySQL user permissions and password hashing implemented to prevent unauthorized access.</a:t>
            </a:r>
            <a:endParaRPr/>
          </a:p>
        </p:txBody>
      </p:sp>
      <p:sp>
        <p:nvSpPr>
          <p:cNvPr id="156" name="Google Shape;156;p18"/>
          <p:cNvSpPr txBox="1"/>
          <p:nvPr/>
        </p:nvSpPr>
        <p:spPr>
          <a:xfrm>
            <a:off x="4672537" y="3481536"/>
            <a:ext cx="2847074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Automated Backups</a:t>
            </a:r>
            <a:endParaRPr/>
          </a:p>
        </p:txBody>
      </p:sp>
      <p:sp>
        <p:nvSpPr>
          <p:cNvPr id="157" name="Google Shape;157;p18"/>
          <p:cNvSpPr txBox="1"/>
          <p:nvPr/>
        </p:nvSpPr>
        <p:spPr>
          <a:xfrm>
            <a:off x="4740324" y="3757761"/>
            <a:ext cx="2711499" cy="15999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Daily scheduled MySQL dumps ensure data recovery in the event of system or hardware failure.</a:t>
            </a:r>
            <a:endParaRPr/>
          </a:p>
        </p:txBody>
      </p:sp>
      <p:sp>
        <p:nvSpPr>
          <p:cNvPr id="158" name="Google Shape;158;p18"/>
          <p:cNvSpPr txBox="1"/>
          <p:nvPr/>
        </p:nvSpPr>
        <p:spPr>
          <a:xfrm>
            <a:off x="8450836" y="3481536"/>
            <a:ext cx="2847074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Integrity Constraints</a:t>
            </a:r>
            <a:endParaRPr/>
          </a:p>
        </p:txBody>
      </p:sp>
      <p:sp>
        <p:nvSpPr>
          <p:cNvPr id="159" name="Google Shape;159;p18"/>
          <p:cNvSpPr txBox="1"/>
          <p:nvPr/>
        </p:nvSpPr>
        <p:spPr>
          <a:xfrm>
            <a:off x="8518624" y="3757761"/>
            <a:ext cx="2711499" cy="1279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Use of CHECK constraints and ENUM types to prevent invalid data entry (e.g., grades or gender).</a:t>
            </a:r>
            <a:endParaRPr/>
          </a:p>
        </p:txBody>
      </p:sp>
      <p:pic>
        <p:nvPicPr>
          <p:cNvPr descr="image.png" id="160" name="Google Shape;160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12900" y="2576661"/>
            <a:ext cx="6096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1" name="Google Shape;161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91200" y="2576661"/>
            <a:ext cx="6096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2" name="Google Shape;162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493299" y="2576661"/>
            <a:ext cx="7620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8"/>
          <p:cNvSpPr txBox="1"/>
          <p:nvPr/>
        </p:nvSpPr>
        <p:spPr>
          <a:xfrm>
            <a:off x="809625" y="966936"/>
            <a:ext cx="11351418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Risk Management</a:t>
            </a:r>
            <a:endParaRPr/>
          </a:p>
        </p:txBody>
      </p:sp>
      <p:sp>
        <p:nvSpPr>
          <p:cNvPr id="164" name="Google Shape;164;p18"/>
          <p:cNvSpPr/>
          <p:nvPr/>
        </p:nvSpPr>
        <p:spPr>
          <a:xfrm>
            <a:off x="571500" y="966936"/>
            <a:ext cx="142875" cy="771525"/>
          </a:xfrm>
          <a:prstGeom prst="rect">
            <a:avLst/>
          </a:prstGeom>
          <a:solidFill>
            <a:srgbClr val="FCB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9" name="Google Shape;16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70" name="Google Shape;170;p19"/>
          <p:cNvGraphicFramePr/>
          <p:nvPr/>
        </p:nvGraphicFramePr>
        <p:xfrm>
          <a:off x="2190750" y="160526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{B06E23D9-0A25-4F2F-B865-54AAF02C646F}</a:tableStyleId>
              </a:tblPr>
              <a:tblGrid>
                <a:gridCol w="1809750"/>
                <a:gridCol w="1876425"/>
                <a:gridCol w="2057400"/>
                <a:gridCol w="2066925"/>
              </a:tblGrid>
              <a:tr h="685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95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Entity Name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95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Primary Key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95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Business Role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95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Key Attribute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3399"/>
                    </a:solidFill>
                  </a:tcPr>
                </a:tc>
              </a:tr>
              <a:tr h="685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Departments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department_id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Academic Unit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dept_name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685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Programs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program_id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Degree Path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prog_name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685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Students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student_id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Participant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reg_number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685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Faculty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faculty_id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Teaching Staff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email_address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685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Courses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course_id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Curriculum Item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course_code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685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Grades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grade_id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Result Metric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numerical_grade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171" name="Google Shape;171;p19"/>
          <p:cNvSpPr/>
          <p:nvPr/>
        </p:nvSpPr>
        <p:spPr>
          <a:xfrm>
            <a:off x="2190750" y="3029098"/>
            <a:ext cx="18097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9"/>
          <p:cNvSpPr/>
          <p:nvPr/>
        </p:nvSpPr>
        <p:spPr>
          <a:xfrm>
            <a:off x="4000500" y="3029098"/>
            <a:ext cx="187642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9"/>
          <p:cNvSpPr/>
          <p:nvPr/>
        </p:nvSpPr>
        <p:spPr>
          <a:xfrm>
            <a:off x="5876925" y="3029098"/>
            <a:ext cx="20574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9"/>
          <p:cNvSpPr/>
          <p:nvPr/>
        </p:nvSpPr>
        <p:spPr>
          <a:xfrm>
            <a:off x="7934325" y="3029098"/>
            <a:ext cx="206692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9"/>
          <p:cNvSpPr/>
          <p:nvPr/>
        </p:nvSpPr>
        <p:spPr>
          <a:xfrm>
            <a:off x="2190750" y="3701504"/>
            <a:ext cx="18097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9"/>
          <p:cNvSpPr/>
          <p:nvPr/>
        </p:nvSpPr>
        <p:spPr>
          <a:xfrm>
            <a:off x="4000500" y="3701504"/>
            <a:ext cx="187642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9"/>
          <p:cNvSpPr/>
          <p:nvPr/>
        </p:nvSpPr>
        <p:spPr>
          <a:xfrm>
            <a:off x="5876925" y="3701504"/>
            <a:ext cx="20574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9"/>
          <p:cNvSpPr/>
          <p:nvPr/>
        </p:nvSpPr>
        <p:spPr>
          <a:xfrm>
            <a:off x="7934325" y="3701504"/>
            <a:ext cx="206692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9"/>
          <p:cNvSpPr/>
          <p:nvPr/>
        </p:nvSpPr>
        <p:spPr>
          <a:xfrm>
            <a:off x="2190750" y="4373909"/>
            <a:ext cx="18097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9"/>
          <p:cNvSpPr/>
          <p:nvPr/>
        </p:nvSpPr>
        <p:spPr>
          <a:xfrm>
            <a:off x="4000500" y="4373909"/>
            <a:ext cx="187642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9"/>
          <p:cNvSpPr/>
          <p:nvPr/>
        </p:nvSpPr>
        <p:spPr>
          <a:xfrm>
            <a:off x="5876925" y="4373909"/>
            <a:ext cx="20574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9"/>
          <p:cNvSpPr/>
          <p:nvPr/>
        </p:nvSpPr>
        <p:spPr>
          <a:xfrm>
            <a:off x="7934325" y="4373909"/>
            <a:ext cx="206692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9"/>
          <p:cNvSpPr/>
          <p:nvPr/>
        </p:nvSpPr>
        <p:spPr>
          <a:xfrm>
            <a:off x="2190750" y="5046315"/>
            <a:ext cx="18097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9"/>
          <p:cNvSpPr/>
          <p:nvPr/>
        </p:nvSpPr>
        <p:spPr>
          <a:xfrm>
            <a:off x="4000500" y="5046315"/>
            <a:ext cx="187642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9"/>
          <p:cNvSpPr/>
          <p:nvPr/>
        </p:nvSpPr>
        <p:spPr>
          <a:xfrm>
            <a:off x="5876925" y="5046315"/>
            <a:ext cx="20574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9"/>
          <p:cNvSpPr/>
          <p:nvPr/>
        </p:nvSpPr>
        <p:spPr>
          <a:xfrm>
            <a:off x="7934325" y="5046315"/>
            <a:ext cx="206692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9"/>
          <p:cNvSpPr/>
          <p:nvPr/>
        </p:nvSpPr>
        <p:spPr>
          <a:xfrm>
            <a:off x="2190750" y="5718720"/>
            <a:ext cx="18097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9"/>
          <p:cNvSpPr/>
          <p:nvPr/>
        </p:nvSpPr>
        <p:spPr>
          <a:xfrm>
            <a:off x="4000500" y="5718720"/>
            <a:ext cx="187642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9"/>
          <p:cNvSpPr/>
          <p:nvPr/>
        </p:nvSpPr>
        <p:spPr>
          <a:xfrm>
            <a:off x="5876925" y="5718720"/>
            <a:ext cx="20574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9"/>
          <p:cNvSpPr/>
          <p:nvPr/>
        </p:nvSpPr>
        <p:spPr>
          <a:xfrm>
            <a:off x="7934325" y="5718720"/>
            <a:ext cx="206692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9"/>
          <p:cNvSpPr/>
          <p:nvPr/>
        </p:nvSpPr>
        <p:spPr>
          <a:xfrm>
            <a:off x="2190750" y="6391126"/>
            <a:ext cx="18097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9"/>
          <p:cNvSpPr/>
          <p:nvPr/>
        </p:nvSpPr>
        <p:spPr>
          <a:xfrm>
            <a:off x="4000500" y="6391126"/>
            <a:ext cx="187642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9"/>
          <p:cNvSpPr/>
          <p:nvPr/>
        </p:nvSpPr>
        <p:spPr>
          <a:xfrm>
            <a:off x="5876925" y="6391126"/>
            <a:ext cx="20574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9"/>
          <p:cNvSpPr/>
          <p:nvPr/>
        </p:nvSpPr>
        <p:spPr>
          <a:xfrm>
            <a:off x="7934325" y="6391126"/>
            <a:ext cx="206692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9"/>
          <p:cNvSpPr txBox="1"/>
          <p:nvPr/>
        </p:nvSpPr>
        <p:spPr>
          <a:xfrm>
            <a:off x="809625" y="452735"/>
            <a:ext cx="11351418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Logical Design: Core Entities</a:t>
            </a:r>
            <a:endParaRPr/>
          </a:p>
        </p:txBody>
      </p:sp>
      <p:sp>
        <p:nvSpPr>
          <p:cNvPr id="196" name="Google Shape;196;p19"/>
          <p:cNvSpPr/>
          <p:nvPr/>
        </p:nvSpPr>
        <p:spPr>
          <a:xfrm>
            <a:off x="571500" y="452735"/>
            <a:ext cx="142875" cy="771525"/>
          </a:xfrm>
          <a:prstGeom prst="rect">
            <a:avLst/>
          </a:prstGeom>
          <a:solidFill>
            <a:srgbClr val="FCB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1" name="Google Shape;20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12665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20" title="ChatGPT Image May 5, 2026, 08_06_27 PM.png"/>
          <p:cNvPicPr preferRelativeResize="0"/>
          <p:nvPr/>
        </p:nvPicPr>
        <p:blipFill rotWithShape="1">
          <a:blip r:embed="rId4">
            <a:alphaModFix/>
          </a:blip>
          <a:srcRect b="0" l="3687" r="3678" t="0"/>
          <a:stretch/>
        </p:blipFill>
        <p:spPr>
          <a:xfrm>
            <a:off x="2877750" y="1302100"/>
            <a:ext cx="7543799" cy="5182999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0"/>
          <p:cNvSpPr txBox="1"/>
          <p:nvPr/>
        </p:nvSpPr>
        <p:spPr>
          <a:xfrm>
            <a:off x="2324100" y="6636097"/>
            <a:ext cx="7543800" cy="2219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CB900"/>
                </a:solidFill>
                <a:latin typeface="Lato"/>
                <a:ea typeface="Lato"/>
                <a:cs typeface="Lato"/>
                <a:sym typeface="Lato"/>
              </a:rPr>
              <a:t>Relational Architecture: 1:N and M:N Junctions with Referential Integrity</a:t>
            </a:r>
            <a:endParaRPr/>
          </a:p>
        </p:txBody>
      </p:sp>
      <p:sp>
        <p:nvSpPr>
          <p:cNvPr id="204" name="Google Shape;204;p20"/>
          <p:cNvSpPr txBox="1"/>
          <p:nvPr/>
        </p:nvSpPr>
        <p:spPr>
          <a:xfrm>
            <a:off x="840575" y="164373"/>
            <a:ext cx="11351400" cy="12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Enhanced Entity Relationship (EER) Diagram</a:t>
            </a:r>
            <a:endParaRPr/>
          </a:p>
        </p:txBody>
      </p:sp>
      <p:sp>
        <p:nvSpPr>
          <p:cNvPr id="205" name="Google Shape;205;p20"/>
          <p:cNvSpPr/>
          <p:nvPr/>
        </p:nvSpPr>
        <p:spPr>
          <a:xfrm>
            <a:off x="571500" y="16248"/>
            <a:ext cx="142800" cy="1543200"/>
          </a:xfrm>
          <a:prstGeom prst="rect">
            <a:avLst/>
          </a:prstGeom>
          <a:solidFill>
            <a:srgbClr val="FCB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0" name="Google Shape;21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1"/>
          <p:cNvSpPr txBox="1"/>
          <p:nvPr/>
        </p:nvSpPr>
        <p:spPr>
          <a:xfrm>
            <a:off x="571500" y="2852886"/>
            <a:ext cx="550068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Technical Configuration</a:t>
            </a:r>
            <a:endParaRPr/>
          </a:p>
        </p:txBody>
      </p:sp>
      <p:sp>
        <p:nvSpPr>
          <p:cNvPr id="212" name="Google Shape;212;p21"/>
          <p:cNvSpPr txBox="1"/>
          <p:nvPr/>
        </p:nvSpPr>
        <p:spPr>
          <a:xfrm>
            <a:off x="571500" y="3129111"/>
            <a:ext cx="5238750" cy="9789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Built using </a:t>
            </a:r>
            <a:r>
              <a:rPr b="1" i="0" lang="en-US" sz="18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MySQL 8.0+</a:t>
            </a:r>
            <a:r>
              <a:rPr b="0" i="0" lang="en-US" sz="18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. All tables utilize AUTO_INCREMENT Primary Keys for record uniqueness and optimized indexing.</a:t>
            </a:r>
            <a:endParaRPr/>
          </a:p>
        </p:txBody>
      </p:sp>
      <p:sp>
        <p:nvSpPr>
          <p:cNvPr id="213" name="Google Shape;213;p21"/>
          <p:cNvSpPr txBox="1"/>
          <p:nvPr/>
        </p:nvSpPr>
        <p:spPr>
          <a:xfrm>
            <a:off x="571500" y="4250977"/>
            <a:ext cx="5238750" cy="6590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Referential Integrity is enforced using Foreign Key constraints with ON UPDATE CASCADE actions.</a:t>
            </a:r>
            <a:endParaRPr/>
          </a:p>
        </p:txBody>
      </p:sp>
      <p:sp>
        <p:nvSpPr>
          <p:cNvPr id="214" name="Google Shape;214;p21"/>
          <p:cNvSpPr txBox="1"/>
          <p:nvPr/>
        </p:nvSpPr>
        <p:spPr>
          <a:xfrm>
            <a:off x="6381750" y="2852886"/>
            <a:ext cx="550068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Constraints &amp; Types</a:t>
            </a:r>
            <a:endParaRPr/>
          </a:p>
        </p:txBody>
      </p:sp>
      <p:sp>
        <p:nvSpPr>
          <p:cNvPr id="215" name="Google Shape;215;p21"/>
          <p:cNvSpPr txBox="1"/>
          <p:nvPr/>
        </p:nvSpPr>
        <p:spPr>
          <a:xfrm>
            <a:off x="6381750" y="3129111"/>
            <a:ext cx="523875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UNIQUE:</a:t>
            </a:r>
            <a:r>
              <a:rPr b="0" i="0" lang="en-US" sz="18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Registration Numbers and Emails.</a:t>
            </a:r>
            <a:endParaRPr/>
          </a:p>
        </p:txBody>
      </p:sp>
      <p:sp>
        <p:nvSpPr>
          <p:cNvPr id="216" name="Google Shape;216;p21"/>
          <p:cNvSpPr txBox="1"/>
          <p:nvPr/>
        </p:nvSpPr>
        <p:spPr>
          <a:xfrm>
            <a:off x="6381750" y="3591966"/>
            <a:ext cx="5238750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ENUM:</a:t>
            </a:r>
            <a:r>
              <a:rPr b="0" i="0" lang="en-US" sz="18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Enforced values for Gender ('Male', 'Female') and Grade Letters (A-F).</a:t>
            </a:r>
            <a:endParaRPr/>
          </a:p>
        </p:txBody>
      </p:sp>
      <p:sp>
        <p:nvSpPr>
          <p:cNvPr id="217" name="Google Shape;217;p21"/>
          <p:cNvSpPr txBox="1"/>
          <p:nvPr/>
        </p:nvSpPr>
        <p:spPr>
          <a:xfrm>
            <a:off x="6381750" y="4374802"/>
            <a:ext cx="5238750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CHECK:</a:t>
            </a:r>
            <a:r>
              <a:rPr b="0" i="0" lang="en-US" sz="18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Validates that semester end_dates occur after start_dates.</a:t>
            </a:r>
            <a:endParaRPr/>
          </a:p>
        </p:txBody>
      </p:sp>
      <p:sp>
        <p:nvSpPr>
          <p:cNvPr id="218" name="Google Shape;218;p21"/>
          <p:cNvSpPr txBox="1"/>
          <p:nvPr/>
        </p:nvSpPr>
        <p:spPr>
          <a:xfrm>
            <a:off x="809625" y="1700361"/>
            <a:ext cx="11351418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Physical Schema (MySQL)</a:t>
            </a:r>
            <a:endParaRPr/>
          </a:p>
        </p:txBody>
      </p:sp>
      <p:sp>
        <p:nvSpPr>
          <p:cNvPr id="219" name="Google Shape;219;p21"/>
          <p:cNvSpPr/>
          <p:nvPr/>
        </p:nvSpPr>
        <p:spPr>
          <a:xfrm>
            <a:off x="571500" y="1700361"/>
            <a:ext cx="142875" cy="771525"/>
          </a:xfrm>
          <a:prstGeom prst="rect">
            <a:avLst/>
          </a:prstGeom>
          <a:solidFill>
            <a:srgbClr val="FCB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4" name="Google Shape;22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5" name="Google Shape;225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959471"/>
            <a:ext cx="3492549" cy="40915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6" name="Google Shape;226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1959471"/>
            <a:ext cx="3492549" cy="40915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7" name="Google Shape;227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1959471"/>
            <a:ext cx="3492549" cy="4091582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2"/>
          <p:cNvSpPr txBox="1"/>
          <p:nvPr/>
        </p:nvSpPr>
        <p:spPr>
          <a:xfrm>
            <a:off x="894237" y="3321546"/>
            <a:ext cx="2847074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CRUD Validation</a:t>
            </a:r>
            <a:endParaRPr/>
          </a:p>
        </p:txBody>
      </p:sp>
      <p:sp>
        <p:nvSpPr>
          <p:cNvPr id="229" name="Google Shape;229;p22"/>
          <p:cNvSpPr txBox="1"/>
          <p:nvPr/>
        </p:nvSpPr>
        <p:spPr>
          <a:xfrm>
            <a:off x="962025" y="3597771"/>
            <a:ext cx="2711499" cy="19198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Verified successful </a:t>
            </a:r>
            <a:r>
              <a:rPr b="1" i="0" lang="en-US" sz="18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INSERT</a:t>
            </a:r>
            <a:r>
              <a:rPr b="0" i="0" lang="en-US" sz="18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operations across all 9 tables using realistic MUST university datasets and student enrollment profiles.</a:t>
            </a:r>
            <a:endParaRPr/>
          </a:p>
        </p:txBody>
      </p:sp>
      <p:sp>
        <p:nvSpPr>
          <p:cNvPr id="230" name="Google Shape;230;p22"/>
          <p:cNvSpPr txBox="1"/>
          <p:nvPr/>
        </p:nvSpPr>
        <p:spPr>
          <a:xfrm>
            <a:off x="4672537" y="3321546"/>
            <a:ext cx="2847074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Query Execution</a:t>
            </a:r>
            <a:endParaRPr/>
          </a:p>
        </p:txBody>
      </p:sp>
      <p:sp>
        <p:nvSpPr>
          <p:cNvPr id="231" name="Google Shape;231;p22"/>
          <p:cNvSpPr txBox="1"/>
          <p:nvPr/>
        </p:nvSpPr>
        <p:spPr>
          <a:xfrm>
            <a:off x="4740324" y="3597771"/>
            <a:ext cx="2711499" cy="19198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Successfully executed 6 complex </a:t>
            </a:r>
            <a:r>
              <a:rPr b="1" i="0" lang="en-US" sz="18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JOIN queries</a:t>
            </a:r>
            <a:r>
              <a:rPr b="0" i="0" lang="en-US" sz="18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to validate reporting logic, GPA calculations, and student distribution reports.</a:t>
            </a:r>
            <a:endParaRPr/>
          </a:p>
        </p:txBody>
      </p:sp>
      <p:sp>
        <p:nvSpPr>
          <p:cNvPr id="232" name="Google Shape;232;p22"/>
          <p:cNvSpPr txBox="1"/>
          <p:nvPr/>
        </p:nvSpPr>
        <p:spPr>
          <a:xfrm>
            <a:off x="8450836" y="3321546"/>
            <a:ext cx="2847074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Integrity Testing</a:t>
            </a:r>
            <a:endParaRPr/>
          </a:p>
        </p:txBody>
      </p:sp>
      <p:sp>
        <p:nvSpPr>
          <p:cNvPr id="233" name="Google Shape;233;p22"/>
          <p:cNvSpPr txBox="1"/>
          <p:nvPr/>
        </p:nvSpPr>
        <p:spPr>
          <a:xfrm>
            <a:off x="8518624" y="3597771"/>
            <a:ext cx="2711499" cy="15999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Confirmed that </a:t>
            </a:r>
            <a:r>
              <a:rPr b="1" i="0" lang="en-US" sz="18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Foreign Key</a:t>
            </a:r>
            <a:r>
              <a:rPr b="0" i="0" lang="en-US" sz="18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constraints and </a:t>
            </a:r>
            <a:r>
              <a:rPr b="1" i="0" lang="en-US" sz="18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CHECK</a:t>
            </a:r>
            <a:r>
              <a:rPr b="0" i="0" lang="en-US" sz="18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rules correctly reject invalid data entries (e.g., marks &gt; 100).</a:t>
            </a:r>
            <a:endParaRPr/>
          </a:p>
        </p:txBody>
      </p:sp>
      <p:pic>
        <p:nvPicPr>
          <p:cNvPr descr="image.png" id="234" name="Google Shape;234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51000" y="2416671"/>
            <a:ext cx="5334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5" name="Google Shape;235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0" y="2416671"/>
            <a:ext cx="7620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6" name="Google Shape;236;p2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569499" y="2416671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2"/>
          <p:cNvSpPr txBox="1"/>
          <p:nvPr/>
        </p:nvSpPr>
        <p:spPr>
          <a:xfrm>
            <a:off x="809625" y="806946"/>
            <a:ext cx="11351418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System Test Data Results</a:t>
            </a:r>
            <a:endParaRPr/>
          </a:p>
        </p:txBody>
      </p:sp>
      <p:sp>
        <p:nvSpPr>
          <p:cNvPr id="238" name="Google Shape;238;p22"/>
          <p:cNvSpPr/>
          <p:nvPr/>
        </p:nvSpPr>
        <p:spPr>
          <a:xfrm>
            <a:off x="571500" y="806946"/>
            <a:ext cx="142875" cy="771525"/>
          </a:xfrm>
          <a:prstGeom prst="rect">
            <a:avLst/>
          </a:prstGeom>
          <a:solidFill>
            <a:srgbClr val="FCB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3" name="Google Shape;24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3"/>
          <p:cNvSpPr txBox="1"/>
          <p:nvPr/>
        </p:nvSpPr>
        <p:spPr>
          <a:xfrm>
            <a:off x="809625" y="571500"/>
            <a:ext cx="5300662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Future Roadmap</a:t>
            </a:r>
            <a:endParaRPr/>
          </a:p>
        </p:txBody>
      </p:sp>
      <p:sp>
        <p:nvSpPr>
          <p:cNvPr id="245" name="Google Shape;245;p23"/>
          <p:cNvSpPr/>
          <p:nvPr/>
        </p:nvSpPr>
        <p:spPr>
          <a:xfrm>
            <a:off x="571500" y="571500"/>
            <a:ext cx="142875" cy="771525"/>
          </a:xfrm>
          <a:prstGeom prst="rect">
            <a:avLst/>
          </a:prstGeom>
          <a:solidFill>
            <a:srgbClr val="FCB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46" name="Google Shape;246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0"/>
            <a:ext cx="58578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3"/>
          <p:cNvSpPr txBox="1"/>
          <p:nvPr/>
        </p:nvSpPr>
        <p:spPr>
          <a:xfrm>
            <a:off x="571500" y="1724025"/>
            <a:ext cx="555069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Digital Evolution</a:t>
            </a:r>
            <a:endParaRPr/>
          </a:p>
        </p:txBody>
      </p:sp>
      <p:sp>
        <p:nvSpPr>
          <p:cNvPr id="248" name="Google Shape;248;p23"/>
          <p:cNvSpPr txBox="1"/>
          <p:nvPr/>
        </p:nvSpPr>
        <p:spPr>
          <a:xfrm>
            <a:off x="571500" y="2000250"/>
            <a:ext cx="5286375" cy="959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Phase 2 will integrate a secure Laravel-based web interface for remote faculty grading and student profile management via browser.</a:t>
            </a:r>
            <a:endParaRPr/>
          </a:p>
        </p:txBody>
      </p:sp>
      <p:sp>
        <p:nvSpPr>
          <p:cNvPr id="249" name="Google Shape;249;p23"/>
          <p:cNvSpPr txBox="1"/>
          <p:nvPr/>
        </p:nvSpPr>
        <p:spPr>
          <a:xfrm>
            <a:off x="571500" y="3103066"/>
            <a:ext cx="5286375" cy="959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Phase 3 plans include a mobile application for instant result notifications and a biometric attendance module for tracking.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4" name="Google Shape;254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5" name="Google Shape;255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81262" y="3834854"/>
            <a:ext cx="3695700" cy="17277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6" name="Google Shape;256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57962" y="3834854"/>
            <a:ext cx="3152775" cy="1727745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24"/>
          <p:cNvSpPr txBox="1"/>
          <p:nvPr/>
        </p:nvSpPr>
        <p:spPr>
          <a:xfrm>
            <a:off x="295275" y="261193"/>
            <a:ext cx="11601450" cy="1581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Questions?</a:t>
            </a:r>
            <a:endParaRPr/>
          </a:p>
        </p:txBody>
      </p:sp>
      <p:sp>
        <p:nvSpPr>
          <p:cNvPr id="258" name="Google Shape;258;p24"/>
          <p:cNvSpPr txBox="1"/>
          <p:nvPr/>
        </p:nvSpPr>
        <p:spPr>
          <a:xfrm>
            <a:off x="571500" y="1937593"/>
            <a:ext cx="11049000" cy="613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0" u="none" cap="none" strike="noStrike">
                <a:solidFill>
                  <a:srgbClr val="FCB900"/>
                </a:solidFill>
                <a:latin typeface="Lato"/>
                <a:ea typeface="Lato"/>
                <a:cs typeface="Lato"/>
                <a:sym typeface="Lato"/>
              </a:rPr>
              <a:t>Thank You for Your Attention</a:t>
            </a:r>
            <a:endParaRPr/>
          </a:p>
        </p:txBody>
      </p:sp>
      <p:sp>
        <p:nvSpPr>
          <p:cNvPr id="259" name="Google Shape;259;p24"/>
          <p:cNvSpPr txBox="1"/>
          <p:nvPr/>
        </p:nvSpPr>
        <p:spPr>
          <a:xfrm>
            <a:off x="571500" y="3027164"/>
            <a:ext cx="11049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 </a:t>
            </a:r>
            <a:r>
              <a:rPr b="1" i="0" lang="en-US" sz="2400" u="none" cap="none" strike="noStrike">
                <a:solidFill>
                  <a:srgbClr val="FCB900"/>
                </a:solidFill>
                <a:latin typeface="Lato"/>
                <a:ea typeface="Lato"/>
                <a:cs typeface="Lato"/>
                <a:sym typeface="Lato"/>
              </a:rPr>
              <a:t>MURUNGI IAN</a:t>
            </a:r>
            <a:endParaRPr/>
          </a:p>
        </p:txBody>
      </p:sp>
      <p:sp>
        <p:nvSpPr>
          <p:cNvPr id="260" name="Google Shape;260;p24"/>
          <p:cNvSpPr txBox="1"/>
          <p:nvPr/>
        </p:nvSpPr>
        <p:spPr>
          <a:xfrm>
            <a:off x="571500" y="6134100"/>
            <a:ext cx="1104900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8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Mbarara University of Science and Technology | May 2026</a:t>
            </a:r>
            <a:endParaRPr/>
          </a:p>
        </p:txBody>
      </p:sp>
      <p:pic>
        <p:nvPicPr>
          <p:cNvPr descr="image.png" id="261" name="Google Shape;261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143375" y="4130129"/>
            <a:ext cx="3714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4"/>
          <p:cNvSpPr txBox="1"/>
          <p:nvPr/>
        </p:nvSpPr>
        <p:spPr>
          <a:xfrm>
            <a:off x="2967037" y="4654004"/>
            <a:ext cx="272415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GitHub Repository</a:t>
            </a:r>
            <a:endParaRPr/>
          </a:p>
        </p:txBody>
      </p:sp>
      <p:sp>
        <p:nvSpPr>
          <p:cNvPr id="263" name="Google Shape;263;p24"/>
          <p:cNvSpPr txBox="1"/>
          <p:nvPr/>
        </p:nvSpPr>
        <p:spPr>
          <a:xfrm>
            <a:off x="2967037" y="4973984"/>
            <a:ext cx="2724300" cy="9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https://github.com/MURUNGI-IAN/Academic-Management-System.git</a:t>
            </a:r>
            <a:endParaRPr/>
          </a:p>
        </p:txBody>
      </p:sp>
      <p:pic>
        <p:nvPicPr>
          <p:cNvPr descr="image.png" id="264" name="Google Shape;264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920037" y="4130129"/>
            <a:ext cx="4286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4"/>
          <p:cNvSpPr txBox="1"/>
          <p:nvPr/>
        </p:nvSpPr>
        <p:spPr>
          <a:xfrm>
            <a:off x="7043737" y="4654004"/>
            <a:ext cx="2181225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Project Demo Video</a:t>
            </a:r>
            <a:endParaRPr/>
          </a:p>
        </p:txBody>
      </p:sp>
      <p:sp>
        <p:nvSpPr>
          <p:cNvPr id="266" name="Google Shape;266;p24"/>
          <p:cNvSpPr txBox="1"/>
          <p:nvPr/>
        </p:nvSpPr>
        <p:spPr>
          <a:xfrm>
            <a:off x="7043737" y="4973984"/>
            <a:ext cx="21813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youtube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